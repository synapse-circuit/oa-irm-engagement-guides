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responder-facing playbook: get set up to be reached, then the lifecycle of a notification with two coordination paths — Grafana Incident, or an external incident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readiness gate. If you can't tick all of these, you're not ready for the pager. Full detail in the Responder Notification Setup guide.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three steps are identical no matter how your team runs incidents. Acknowledge first — it's cheap and stops the noise for everyone. Then decide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action cheat sheet. Emphasize the voicemail gotcha and that SMS can't action anything.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fork. Both start the same (acknowledge, triage); they diverge on where the incident is coordinated. The next two slides show each path end to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Path A end to end. The shared steps are orange; the Grafana Incident steps are blue.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Path B end to end. The golden rule: the IRM alert group must end up Resolved or paging continues. ServiceNow is bidirectional; Jira and plain webhooks need you to confirm.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Escalating to others mid-incident. The cultural message: escalate early, it's cheaper than a long outage.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habits that make on-call calmer for everyone.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take-to-your-shift one-pager. Same up to the fork, then Path A or Path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Responder-facing references. Pair this playbook with the Responder Notification Setup guide.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3A22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4937760"/>
            <a:ext cx="3474720" cy="3474720"/>
          </a:xfrm>
          <a:prstGeom prst="ellipse">
            <a:avLst/>
          </a:prstGeom>
          <a:solidFill>
            <a:srgbClr val="372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" y="1170432"/>
            <a:ext cx="896112" cy="896112"/>
          </a:xfrm>
          <a:prstGeom prst="ellipse">
            <a:avLst/>
          </a:prstGeom>
          <a:solidFill>
            <a:srgbClr val="F46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1335024"/>
            <a:ext cx="420624" cy="566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286000"/>
            <a:ext cx="106984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IRM Responder Playbook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1188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C9CDD2"/>
                </a:solidFill>
                <a:latin typeface="Calibri"/>
              </a:rPr>
              <a:t>What to do when you're on call — from page to resolution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607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9830"/>
                </a:solidFill>
                <a:latin typeface="Calibri"/>
              </a:rPr>
              <a:t>For IRM Responders</a:t>
            </a:r>
            <a:r>
              <a:rPr sz="1400" b="0" i="0">
                <a:solidFill>
                  <a:srgbClr val="8E959D"/>
                </a:solidFill>
                <a:latin typeface="Calibri"/>
              </a:rPr>
              <a:t>   •   Grafana Cloud IRM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F46800"/>
                </a:solidFill>
                <a:latin typeface="Calibri"/>
              </a:rPr>
              <a:t>BE REACHABLE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24292E"/>
                </a:solidFill>
                <a:latin typeface="Calibri"/>
              </a:rPr>
              <a:t>Before your shift: make sure you can be reached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74519"/>
            <a:ext cx="475488" cy="475488"/>
          </a:xfrm>
          <a:prstGeom prst="ellipse">
            <a:avLst/>
          </a:prstGeom>
          <a:solidFill>
            <a:srgbClr val="FD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l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984248"/>
            <a:ext cx="256032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8448" y="1819655"/>
            <a:ext cx="102229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4292E"/>
                </a:solidFill>
                <a:latin typeface="Calibri"/>
              </a:rPr>
              <a:t>Email is the silent default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121408"/>
            <a:ext cx="1022299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E6670"/>
                </a:solidFill>
                <a:latin typeface="Calibri"/>
              </a:rPr>
              <a:t>A perfect schedule pages no one if you haven't set up how you're reached. Configure this once, before you're on call.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953511"/>
            <a:ext cx="475488" cy="475488"/>
          </a:xfrm>
          <a:prstGeom prst="ellipse">
            <a:avLst/>
          </a:prstGeom>
          <a:solidFill>
            <a:srgbClr val="FD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uff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063239"/>
            <a:ext cx="256032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98448" y="2898647"/>
            <a:ext cx="102229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4292E"/>
                </a:solidFill>
                <a:latin typeface="Calibri"/>
              </a:rPr>
              <a:t>Both notification chains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3200399"/>
            <a:ext cx="1022299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E6670"/>
                </a:solidFill>
                <a:latin typeface="Calibri"/>
              </a:rPr>
              <a:t>Set your Default chain (push, Slack) and your Important chain (critical push, phone, SMS). Important steps do nothing if that chain is empty.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032504"/>
            <a:ext cx="475488" cy="475488"/>
          </a:xfrm>
          <a:prstGeom prst="ellipse">
            <a:avLst/>
          </a:prstGeom>
          <a:solidFill>
            <a:srgbClr val="FD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h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142232"/>
            <a:ext cx="256032" cy="2560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98448" y="3977640"/>
            <a:ext cx="102229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4292E"/>
                </a:solidFill>
                <a:latin typeface="Calibri"/>
              </a:rPr>
              <a:t>Mobile app + critical alerts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279392"/>
            <a:ext cx="1022299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E6670"/>
                </a:solidFill>
                <a:latin typeface="Calibri"/>
              </a:rPr>
              <a:t>Install and pair the app; enable iOS Critical Alerts / Android per-channel DND; sync the IRM contact so calls pierce Do Not Disturb.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5111496"/>
            <a:ext cx="475488" cy="475488"/>
          </a:xfrm>
          <a:prstGeom prst="ellipse">
            <a:avLst/>
          </a:prstGeom>
          <a:solidFill>
            <a:srgbClr val="FD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5221224"/>
            <a:ext cx="256032" cy="2560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98448" y="5056632"/>
            <a:ext cx="102229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4292E"/>
                </a:solidFill>
                <a:latin typeface="Calibri"/>
              </a:rPr>
              <a:t>Verify phone, link Slack,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5358383"/>
            <a:ext cx="1022299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E6670"/>
                </a:solidFill>
                <a:latin typeface="Calibri"/>
              </a:rPr>
              <a:t>Verify your number (E.164), link Slack, and send a test notification on both chains. Untested is unconfigured.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F46800"/>
                </a:solidFill>
                <a:latin typeface="Calibri"/>
              </a:rPr>
              <a:t>THE SHARED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24292E"/>
                </a:solidFill>
                <a:latin typeface="Calibri"/>
              </a:rPr>
              <a:t>When you're paged: the first three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3520440" cy="2286000"/>
          </a:xfrm>
          <a:prstGeom prst="roundRect">
            <a:avLst>
              <a:gd name="adj" fmla="val 7000"/>
            </a:avLst>
          </a:prstGeom>
          <a:solidFill>
            <a:srgbClr val="F4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2148839"/>
            <a:ext cx="548640" cy="548640"/>
          </a:xfrm>
          <a:prstGeom prst="ellipse">
            <a:avLst/>
          </a:prstGeom>
          <a:solidFill>
            <a:srgbClr val="F46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l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5" y="2276856"/>
            <a:ext cx="292608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2862072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4292E"/>
                </a:solidFill>
                <a:latin typeface="Calibri"/>
              </a:rPr>
              <a:t>1  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E6670"/>
                </a:solidFill>
                <a:latin typeface="Calibri"/>
              </a:rPr>
              <a:t>On whatever channel reached you — push, phone, SMS, or Slack.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42232" y="2788920"/>
            <a:ext cx="2834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46800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1874519"/>
            <a:ext cx="3520440" cy="2286000"/>
          </a:xfrm>
          <a:prstGeom prst="roundRect">
            <a:avLst>
              <a:gd name="adj" fmla="val 7000"/>
            </a:avLst>
          </a:prstGeom>
          <a:solidFill>
            <a:srgbClr val="F4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08576" y="2148839"/>
            <a:ext cx="548640" cy="548640"/>
          </a:xfrm>
          <a:prstGeom prst="ellipse">
            <a:avLst/>
          </a:prstGeom>
          <a:solidFill>
            <a:srgbClr val="F46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2276856"/>
            <a:ext cx="292608" cy="2926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08576" y="2862072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4292E"/>
                </a:solidFill>
                <a:latin typeface="Calibri"/>
              </a:rPr>
              <a:t>2  Acknowledge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3246120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E6670"/>
                </a:solidFill>
                <a:latin typeface="Calibri"/>
              </a:rPr>
              <a:t>Immediately. This stops escalation and signals you're on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6408" y="2788920"/>
            <a:ext cx="2834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46800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1" y="1874519"/>
            <a:ext cx="3520440" cy="2286000"/>
          </a:xfrm>
          <a:prstGeom prst="roundRect">
            <a:avLst>
              <a:gd name="adj" fmla="val 7000"/>
            </a:avLst>
          </a:prstGeom>
          <a:solidFill>
            <a:srgbClr val="F4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02752" y="2148839"/>
            <a:ext cx="548640" cy="548640"/>
          </a:xfrm>
          <a:prstGeom prst="ellipse">
            <a:avLst/>
          </a:prstGeom>
          <a:solidFill>
            <a:srgbClr val="F46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gau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0767" y="2276856"/>
            <a:ext cx="292608" cy="29260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02752" y="2862072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4292E"/>
                </a:solidFill>
                <a:latin typeface="Calibri"/>
              </a:rPr>
              <a:t>3  Triage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3246120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E6670"/>
                </a:solidFill>
                <a:latin typeface="Calibri"/>
              </a:rPr>
              <a:t>Open the alert group; read alerts, labels, timeline. Silence noise.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526280"/>
            <a:ext cx="10908792" cy="1417320"/>
          </a:xfrm>
          <a:prstGeom prst="roundRect">
            <a:avLst>
              <a:gd name="adj" fmla="val 7000"/>
            </a:avLst>
          </a:prstGeom>
          <a:solidFill>
            <a:srgbClr val="11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718304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9830"/>
                </a:solidFill>
                <a:latin typeface="Calibri"/>
              </a:rPr>
              <a:t>Then decide scope:  </a:t>
            </a:r>
            <a:r>
              <a:rPr sz="1400" b="0" i="0">
                <a:solidFill>
                  <a:srgbClr val="C9CDD2"/>
                </a:solidFill>
                <a:latin typeface="Calibri"/>
              </a:rPr>
              <a:t>routine and self-contained → fix it, resolve the alert group, add a resolution note. Significant, multi-team, or customer-facing → escalate to a coordinated incident (next).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F46800"/>
                </a:solidFill>
                <a:latin typeface="Calibri"/>
              </a:rPr>
              <a:t>QUICK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24292E"/>
                </a:solidFill>
                <a:latin typeface="Calibri"/>
              </a:rPr>
              <a:t>Responder actions by channel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2743200" cy="512064"/>
          </a:xfrm>
          <a:prstGeom prst="rect">
            <a:avLst/>
          </a:prstGeom>
          <a:solidFill>
            <a:srgbClr val="11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947672"/>
            <a:ext cx="252374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1828800"/>
            <a:ext cx="1920240" cy="512064"/>
          </a:xfrm>
          <a:prstGeom prst="rect">
            <a:avLst/>
          </a:prstGeom>
          <a:solidFill>
            <a:srgbClr val="11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11296" y="1947672"/>
            <a:ext cx="17007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Phone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0" y="1828800"/>
            <a:ext cx="2286000" cy="512064"/>
          </a:xfrm>
          <a:prstGeom prst="rect">
            <a:avLst/>
          </a:prstGeom>
          <a:solidFill>
            <a:srgbClr val="11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31536" y="1947672"/>
            <a:ext cx="206654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Slack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1828800"/>
            <a:ext cx="2103120" cy="512064"/>
          </a:xfrm>
          <a:prstGeom prst="rect">
            <a:avLst/>
          </a:prstGeom>
          <a:solidFill>
            <a:srgbClr val="11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17536" y="1947672"/>
            <a:ext cx="188366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Mobile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92640" y="1828800"/>
            <a:ext cx="1856231" cy="512064"/>
          </a:xfrm>
          <a:prstGeom prst="rect">
            <a:avLst/>
          </a:prstGeom>
          <a:solidFill>
            <a:srgbClr val="11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20656" y="1947672"/>
            <a:ext cx="163677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Web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340864"/>
            <a:ext cx="2743200" cy="512064"/>
          </a:xfrm>
          <a:prstGeom prst="rect">
            <a:avLst/>
          </a:prstGeom>
          <a:solidFill>
            <a:srgbClr val="F4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2459736"/>
            <a:ext cx="252374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4292E"/>
                </a:solidFill>
                <a:latin typeface="Calibri"/>
              </a:rPr>
              <a:t>Acknowledge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2340864"/>
            <a:ext cx="1920240" cy="512064"/>
          </a:xfrm>
          <a:prstGeom prst="rect">
            <a:avLst/>
          </a:prstGeom>
          <a:solidFill>
            <a:srgbClr val="F4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11296" y="2459736"/>
            <a:ext cx="17007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4292E"/>
                </a:solidFill>
                <a:latin typeface="Calibri"/>
              </a:rPr>
              <a:t>Press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2340864"/>
            <a:ext cx="2286000" cy="512064"/>
          </a:xfrm>
          <a:prstGeom prst="rect">
            <a:avLst/>
          </a:prstGeom>
          <a:solidFill>
            <a:srgbClr val="F4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31536" y="2459736"/>
            <a:ext cx="206654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4292E"/>
                </a:solidFill>
                <a:latin typeface="Calibri"/>
              </a:rPr>
              <a:t>Ack / /ack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2340864"/>
            <a:ext cx="2103120" cy="512064"/>
          </a:xfrm>
          <a:prstGeom prst="rect">
            <a:avLst/>
          </a:prstGeom>
          <a:solidFill>
            <a:srgbClr val="F4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17536" y="2459736"/>
            <a:ext cx="188366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4292E"/>
                </a:solidFill>
                <a:latin typeface="Calibri"/>
              </a:rPr>
              <a:t>Acknowledge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92640" y="2340864"/>
            <a:ext cx="1856231" cy="512064"/>
          </a:xfrm>
          <a:prstGeom prst="rect">
            <a:avLst/>
          </a:prstGeom>
          <a:solidFill>
            <a:srgbClr val="F4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20656" y="2459736"/>
            <a:ext cx="163677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4292E"/>
                </a:solidFill>
                <a:latin typeface="Calibri"/>
              </a:rPr>
              <a:t>Status → Ack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2852928"/>
            <a:ext cx="274320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2971800"/>
            <a:ext cx="252374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4292E"/>
                </a:solidFill>
                <a:latin typeface="Calibri"/>
              </a:rPr>
              <a:t>Resolve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0" y="2852928"/>
            <a:ext cx="192024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11296" y="2971800"/>
            <a:ext cx="17007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4292E"/>
                </a:solidFill>
                <a:latin typeface="Calibri"/>
              </a:rPr>
              <a:t>Press 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03520" y="2852928"/>
            <a:ext cx="228600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31536" y="2971800"/>
            <a:ext cx="206654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4292E"/>
                </a:solidFill>
                <a:latin typeface="Calibri"/>
              </a:rPr>
              <a:t>Resolve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0" y="2852928"/>
            <a:ext cx="210312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17536" y="2971800"/>
            <a:ext cx="188366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4292E"/>
                </a:solidFill>
                <a:latin typeface="Calibri"/>
              </a:rPr>
              <a:t>Resolve + note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92640" y="2852928"/>
            <a:ext cx="1856231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20656" y="2971800"/>
            <a:ext cx="163677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4292E"/>
                </a:solidFill>
                <a:latin typeface="Calibri"/>
              </a:rPr>
              <a:t>Resolve + note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3364992"/>
            <a:ext cx="2743200" cy="512064"/>
          </a:xfrm>
          <a:prstGeom prst="rect">
            <a:avLst/>
          </a:prstGeom>
          <a:solidFill>
            <a:srgbClr val="F4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3483864"/>
            <a:ext cx="252374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4292E"/>
                </a:solidFill>
                <a:latin typeface="Calibri"/>
              </a:rPr>
              <a:t>Silence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83280" y="3364992"/>
            <a:ext cx="1920240" cy="512064"/>
          </a:xfrm>
          <a:prstGeom prst="rect">
            <a:avLst/>
          </a:prstGeom>
          <a:solidFill>
            <a:srgbClr val="F4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11296" y="3483864"/>
            <a:ext cx="17007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4292E"/>
                </a:solidFill>
                <a:latin typeface="Calibri"/>
              </a:rPr>
              <a:t>Press 3 (30m)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03520" y="3364992"/>
            <a:ext cx="2286000" cy="512064"/>
          </a:xfrm>
          <a:prstGeom prst="rect">
            <a:avLst/>
          </a:prstGeom>
          <a:solidFill>
            <a:srgbClr val="F4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31536" y="3483864"/>
            <a:ext cx="206654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4292E"/>
                </a:solidFill>
                <a:latin typeface="Calibri"/>
              </a:rPr>
              <a:t>Silence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89520" y="3364992"/>
            <a:ext cx="2103120" cy="512064"/>
          </a:xfrm>
          <a:prstGeom prst="rect">
            <a:avLst/>
          </a:prstGeom>
          <a:solidFill>
            <a:srgbClr val="F4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17536" y="3483864"/>
            <a:ext cx="188366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4292E"/>
                </a:solidFill>
                <a:latin typeface="Calibri"/>
              </a:rPr>
              <a:t>More → Silence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92640" y="3364992"/>
            <a:ext cx="1856231" cy="512064"/>
          </a:xfrm>
          <a:prstGeom prst="rect">
            <a:avLst/>
          </a:prstGeom>
          <a:solidFill>
            <a:srgbClr val="F4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20656" y="3483864"/>
            <a:ext cx="163677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4292E"/>
                </a:solidFill>
                <a:latin typeface="Calibri"/>
              </a:rPr>
              <a:t>Silence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3877056"/>
            <a:ext cx="274320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8096" y="3995928"/>
            <a:ext cx="252374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4292E"/>
                </a:solidFill>
                <a:latin typeface="Calibri"/>
              </a:rPr>
              <a:t>Repeat message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83280" y="3877056"/>
            <a:ext cx="192024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11296" y="3995928"/>
            <a:ext cx="17007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4292E"/>
                </a:solidFill>
                <a:latin typeface="Calibri"/>
              </a:rPr>
              <a:t>Press 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03520" y="3877056"/>
            <a:ext cx="228600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31536" y="3995928"/>
            <a:ext cx="206654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4292E"/>
                </a:solidFill>
                <a:latin typeface="Calibri"/>
              </a:rPr>
              <a:t>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89520" y="3877056"/>
            <a:ext cx="210312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17536" y="3995928"/>
            <a:ext cx="188366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4292E"/>
                </a:solidFill>
                <a:latin typeface="Calibri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92640" y="3877056"/>
            <a:ext cx="1856231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820656" y="3995928"/>
            <a:ext cx="163677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4292E"/>
                </a:solidFill>
                <a:latin typeface="Calibri"/>
              </a:rP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" y="4389120"/>
            <a:ext cx="2743200" cy="512064"/>
          </a:xfrm>
          <a:prstGeom prst="rect">
            <a:avLst/>
          </a:prstGeom>
          <a:solidFill>
            <a:srgbClr val="F4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68096" y="4507992"/>
            <a:ext cx="252374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4292E"/>
                </a:solidFill>
                <a:latin typeface="Calibri"/>
              </a:rPr>
              <a:t>Escalate to others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383280" y="4389120"/>
            <a:ext cx="1920240" cy="512064"/>
          </a:xfrm>
          <a:prstGeom prst="rect">
            <a:avLst/>
          </a:prstGeom>
          <a:solidFill>
            <a:srgbClr val="F4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511296" y="4507992"/>
            <a:ext cx="17007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4292E"/>
                </a:solidFill>
                <a:latin typeface="Calibri"/>
              </a:rPr>
              <a:t>—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303520" y="4389120"/>
            <a:ext cx="2286000" cy="512064"/>
          </a:xfrm>
          <a:prstGeom prst="rect">
            <a:avLst/>
          </a:prstGeom>
          <a:solidFill>
            <a:srgbClr val="F4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31536" y="4507992"/>
            <a:ext cx="206654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4292E"/>
                </a:solidFill>
                <a:latin typeface="Calibri"/>
              </a:rPr>
              <a:t>/grafana escalate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89520" y="4389120"/>
            <a:ext cx="2103120" cy="512064"/>
          </a:xfrm>
          <a:prstGeom prst="rect">
            <a:avLst/>
          </a:prstGeom>
          <a:solidFill>
            <a:srgbClr val="F4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17536" y="4507992"/>
            <a:ext cx="188366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4292E"/>
                </a:solidFill>
                <a:latin typeface="Calibri"/>
              </a:rPr>
              <a:t>+ Invite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92640" y="4389120"/>
            <a:ext cx="1856231" cy="512064"/>
          </a:xfrm>
          <a:prstGeom prst="rect">
            <a:avLst/>
          </a:prstGeom>
          <a:solidFill>
            <a:srgbClr val="F4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820656" y="4507992"/>
            <a:ext cx="163677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4292E"/>
                </a:solidFill>
                <a:latin typeface="Calibri"/>
              </a:rPr>
              <a:t>+ Add participants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" y="50292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5E6670"/>
                </a:solidFill>
                <a:latin typeface="Calibri"/>
              </a:rPr>
              <a:t>SMS is notification-only — use the app, phone, Slack, or web to act. Voicemail does NOT acknowledge or resolve; only a live keypress does, so an unanswered call keeps escalating.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F46800"/>
                </a:solidFill>
                <a:latin typeface="Calibri"/>
              </a:rPr>
              <a:t>CHOOSE YOUR COORDINATION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24292E"/>
                </a:solidFill>
                <a:latin typeface="Calibri"/>
              </a:rPr>
              <a:t>Two paths for a real incident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440680" cy="3383280"/>
          </a:xfrm>
          <a:prstGeom prst="roundRect">
            <a:avLst>
              <a:gd name="adj" fmla="val 7000"/>
            </a:avLst>
          </a:prstGeom>
          <a:solidFill>
            <a:srgbClr val="F4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2039112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1" y="2157984"/>
            <a:ext cx="274320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72768" y="2112264"/>
            <a:ext cx="4343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4292E"/>
                </a:solidFill>
                <a:latin typeface="Calibri"/>
              </a:rPr>
              <a:t>Path A — Grafana Incident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2807208"/>
            <a:ext cx="4800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71450" indent="-171450">
              <a:spcAft>
                <a:spcPts val="900"/>
              </a:spcAft>
              <a:buFont typeface="Arial"/>
              <a:buChar char="•"/>
            </a:pPr>
            <a:r>
              <a:rPr sz="1200" b="0">
                <a:solidFill>
                  <a:srgbClr val="24292E"/>
                </a:solidFill>
                <a:latin typeface="Calibri"/>
              </a:rPr>
              <a:t>Declare from the alert group (Actions → Declare)</a:t>
            </a:r>
          </a:p>
          <a:p>
            <a:pPr marL="171450" indent="-171450">
              <a:spcAft>
                <a:spcPts val="900"/>
              </a:spcAft>
              <a:buFont typeface="Arial"/>
              <a:buChar char="•"/>
            </a:pPr>
            <a:r>
              <a:rPr sz="1200" b="0">
                <a:solidFill>
                  <a:srgbClr val="24292E"/>
                </a:solidFill>
                <a:latin typeface="Calibri"/>
              </a:rPr>
              <a:t>Attach alert group(s) — max 5</a:t>
            </a:r>
          </a:p>
          <a:p>
            <a:pPr marL="171450" indent="-171450">
              <a:spcAft>
                <a:spcPts val="900"/>
              </a:spcAft>
              <a:buFont typeface="Arial"/>
              <a:buChar char="•"/>
            </a:pPr>
            <a:r>
              <a:rPr sz="1200" b="0">
                <a:solidFill>
                  <a:srgbClr val="24292E"/>
                </a:solidFill>
                <a:latin typeface="Calibri"/>
              </a:rPr>
              <a:t>Roles, timeline, tasks, Slack war room</a:t>
            </a:r>
          </a:p>
          <a:p>
            <a:pPr marL="171450" indent="-171450">
              <a:spcAft>
                <a:spcPts val="900"/>
              </a:spcAft>
              <a:buFont typeface="Arial"/>
              <a:buChar char="•"/>
            </a:pPr>
            <a:r>
              <a:rPr sz="1200" b="0">
                <a:solidFill>
                  <a:srgbClr val="24292E"/>
                </a:solidFill>
                <a:latin typeface="Calibri"/>
              </a:rPr>
              <a:t>Resolve + retrospective in Grafana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4663440"/>
            <a:ext cx="4855464" cy="365760"/>
          </a:xfrm>
          <a:prstGeom prst="roundRect">
            <a:avLst>
              <a:gd name="adj" fmla="val 50000"/>
            </a:avLst>
          </a:prstGeom>
          <a:solidFill>
            <a:srgbClr val="FD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4727448"/>
            <a:ext cx="48554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3274D9"/>
                </a:solidFill>
                <a:latin typeface="Calibri"/>
              </a:rPr>
              <a:t>IN GRAFANA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783080"/>
            <a:ext cx="5440680" cy="3383280"/>
          </a:xfrm>
          <a:prstGeom prst="roundRect">
            <a:avLst>
              <a:gd name="adj" fmla="val 7000"/>
            </a:avLst>
          </a:prstGeom>
          <a:solidFill>
            <a:srgbClr val="F4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37960" y="2039112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g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2157984"/>
            <a:ext cx="274320" cy="274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96328" y="2112264"/>
            <a:ext cx="4343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4292E"/>
                </a:solidFill>
                <a:latin typeface="Calibri"/>
              </a:rPr>
              <a:t>Path B — external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807208"/>
            <a:ext cx="4800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71450" indent="-171450">
              <a:spcAft>
                <a:spcPts val="900"/>
              </a:spcAft>
              <a:buFont typeface="Arial"/>
              <a:buChar char="•"/>
            </a:pPr>
            <a:r>
              <a:rPr sz="1200" b="0">
                <a:solidFill>
                  <a:srgbClr val="24292E"/>
                </a:solidFill>
                <a:latin typeface="Calibri"/>
              </a:rPr>
              <a:t>IRM is your paging / on-call layer</a:t>
            </a:r>
          </a:p>
          <a:p>
            <a:pPr marL="171450" indent="-171450">
              <a:spcAft>
                <a:spcPts val="900"/>
              </a:spcAft>
              <a:buFont typeface="Arial"/>
              <a:buChar char="•"/>
            </a:pPr>
            <a:r>
              <a:rPr sz="1200" b="0">
                <a:solidFill>
                  <a:srgbClr val="24292E"/>
                </a:solidFill>
                <a:latin typeface="Calibri"/>
              </a:rPr>
              <a:t>Hand off to ServiceNow / Jira / webhook</a:t>
            </a:r>
          </a:p>
          <a:p>
            <a:pPr marL="171450" indent="-171450">
              <a:spcAft>
                <a:spcPts val="900"/>
              </a:spcAft>
              <a:buFont typeface="Arial"/>
              <a:buChar char="•"/>
            </a:pPr>
            <a:r>
              <a:rPr sz="1200" b="0">
                <a:solidFill>
                  <a:srgbClr val="24292E"/>
                </a:solidFill>
                <a:latin typeface="Calibri"/>
              </a:rPr>
              <a:t>Coordinate in that platform</a:t>
            </a:r>
          </a:p>
          <a:p>
            <a:pPr marL="171450" indent="-171450">
              <a:spcAft>
                <a:spcPts val="900"/>
              </a:spcAft>
              <a:buFont typeface="Arial"/>
              <a:buChar char="•"/>
            </a:pPr>
            <a:r>
              <a:rPr sz="1200" b="0">
                <a:solidFill>
                  <a:srgbClr val="24292E"/>
                </a:solidFill>
                <a:latin typeface="Calibri"/>
              </a:rPr>
              <a:t>Close there — confirm IRM group resolved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56248" y="4663440"/>
            <a:ext cx="4855464" cy="365760"/>
          </a:xfrm>
          <a:prstGeom prst="roundRect">
            <a:avLst>
              <a:gd name="adj" fmla="val 50000"/>
            </a:avLst>
          </a:prstGeom>
          <a:solidFill>
            <a:srgbClr val="FD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6248" y="4727448"/>
            <a:ext cx="48554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8B5CF6"/>
                </a:solidFill>
                <a:latin typeface="Calibri"/>
              </a:rPr>
              <a:t>SERVICENOW · JIRA · 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sponder-lifecycle-with-incid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67" y="1234440"/>
            <a:ext cx="11338560" cy="326647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00">
                <a:solidFill>
                  <a:srgbClr val="F46800"/>
                </a:solidFill>
                <a:latin typeface="Calibri"/>
              </a:rPr>
              <a:t>PATH A — LIFECYCLE WITH GRAFANA INCIDENT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892040"/>
            <a:ext cx="10881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9CDD2"/>
                </a:solidFill>
                <a:latin typeface="Calibri"/>
              </a:rPr>
              <a:t>Declare from the alert group, attach the contributing group(s) (max 5) so technical context travels with the incident, then coordinate roles, timeline, and tasks in the auto-created Slack war room. Resolve the incident and the alert group, add a resolution note, and retrospect — MTTR/MTTA flow into Insights.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sponder-lifecycle-exter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67" y="1234440"/>
            <a:ext cx="11338560" cy="326647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00">
                <a:solidFill>
                  <a:srgbClr val="F46800"/>
                </a:solidFill>
                <a:latin typeface="Calibri"/>
              </a:rPr>
              <a:t>PATH B — LIFECYCLE WITH AN EXTERNAL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892040"/>
            <a:ext cx="10881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9CDD2"/>
                </a:solidFill>
                <a:latin typeface="Calibri"/>
              </a:rPr>
              <a:t>IRM stays your paging layer. Hand off to the external tool — ServiceNow auto-creates an incident and syncs status both ways; Jira auto-creates an issue and follows incident status; a webhook creates a ticket (no automatic back-sync). Coordinate there, close it, and </a:t>
            </a:r>
            <a:r>
              <a:rPr sz="1300" b="1" i="0">
                <a:solidFill>
                  <a:srgbClr val="FF9830"/>
                </a:solidFill>
                <a:latin typeface="Calibri"/>
              </a:rPr>
              <a:t>confirm the IRM alert group is Resolved so paging fully stops.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F46800"/>
                </a:solidFill>
                <a:latin typeface="Calibri"/>
              </a:rPr>
              <a:t>DON'T GO IT ALONE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24292E"/>
                </a:solidFill>
                <a:latin typeface="Calibri"/>
              </a:rPr>
              <a:t>Getting help — escalate early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965960"/>
            <a:ext cx="475488" cy="475488"/>
          </a:xfrm>
          <a:prstGeom prst="ellipse">
            <a:avLst/>
          </a:prstGeom>
          <a:solidFill>
            <a:srgbClr val="FD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75688"/>
            <a:ext cx="256032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8448" y="1911095"/>
            <a:ext cx="102229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4292E"/>
                </a:solidFill>
                <a:latin typeface="Calibri"/>
              </a:rPr>
              <a:t>Add participants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212848"/>
            <a:ext cx="1022299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E6670"/>
                </a:solidFill>
                <a:latin typeface="Calibri"/>
              </a:rPr>
              <a:t>Web: + Add participants · Mobile: + Invite (Default or Important). Check whether someone shows as On-call now before paging them.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154680"/>
            <a:ext cx="475488" cy="475488"/>
          </a:xfrm>
          <a:prstGeom prst="ellipse">
            <a:avLst/>
          </a:prstGeom>
          <a:solidFill>
            <a:srgbClr val="FD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uff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264408"/>
            <a:ext cx="256032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98448" y="3099816"/>
            <a:ext cx="102229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4292E"/>
                </a:solidFill>
                <a:latin typeface="Calibri"/>
              </a:rPr>
              <a:t>Escalate in Slack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3401568"/>
            <a:ext cx="1022299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E6670"/>
                </a:solidFill>
                <a:latin typeface="Calibri"/>
              </a:rPr>
              <a:t>The Escalate button, or /grafana escalate @user (or a team), with an optional important-priority toggle and message.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343400"/>
            <a:ext cx="475488" cy="475488"/>
          </a:xfrm>
          <a:prstGeom prst="ellipse">
            <a:avLst/>
          </a:prstGeom>
          <a:solidFill>
            <a:srgbClr val="FD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453128"/>
            <a:ext cx="256032" cy="2560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98448" y="4288536"/>
            <a:ext cx="102229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4292E"/>
                </a:solidFill>
                <a:latin typeface="Calibri"/>
              </a:rPr>
              <a:t>A second responder beats an outage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590288"/>
            <a:ext cx="1022299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E6670"/>
                </a:solidFill>
                <a:latin typeface="Calibri"/>
              </a:rPr>
              <a:t>If you're stuck, pull someone in early. Escalating is not a failure — a prolonged outage 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F46800"/>
                </a:solidFill>
                <a:latin typeface="Calibri"/>
              </a:rPr>
              <a:t>DO THIS EVERY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24292E"/>
                </a:solidFill>
                <a:latin typeface="Calibri"/>
              </a:rPr>
              <a:t>Good habits on call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920240"/>
            <a:ext cx="475488" cy="475488"/>
          </a:xfrm>
          <a:prstGeom prst="ellipse">
            <a:avLst/>
          </a:prstGeom>
          <a:solidFill>
            <a:srgbClr val="FD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29968"/>
            <a:ext cx="256032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8448" y="1865376"/>
            <a:ext cx="47365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4292E"/>
                </a:solidFill>
                <a:latin typeface="Calibri"/>
              </a:rPr>
              <a:t>Acknowledge first, investigate second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167128"/>
            <a:ext cx="473659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E6670"/>
                </a:solidFill>
                <a:latin typeface="Calibri"/>
              </a:rPr>
              <a:t>It's cheap, stops the noise for everyone, and you can always resolve or escalate after.</a:t>
            </a:r>
          </a:p>
        </p:txBody>
      </p:sp>
      <p:sp>
        <p:nvSpPr>
          <p:cNvPr id="8" name="Oval 7"/>
          <p:cNvSpPr/>
          <p:nvPr/>
        </p:nvSpPr>
        <p:spPr>
          <a:xfrm>
            <a:off x="6355080" y="1920240"/>
            <a:ext cx="475488" cy="475488"/>
          </a:xfrm>
          <a:prstGeom prst="ellipse">
            <a:avLst/>
          </a:prstGeom>
          <a:solidFill>
            <a:srgbClr val="FD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2029968"/>
            <a:ext cx="256032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13448" y="1865376"/>
            <a:ext cx="47365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4292E"/>
                </a:solidFill>
                <a:latin typeface="Calibri"/>
              </a:rPr>
              <a:t>Silence deliberately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13448" y="2167128"/>
            <a:ext cx="473659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E6670"/>
                </a:solidFill>
                <a:latin typeface="Calibri"/>
              </a:rPr>
              <a:t>Short, time-limited silences for known issues during a fix — never 'Silence forever'.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383280"/>
            <a:ext cx="475488" cy="475488"/>
          </a:xfrm>
          <a:prstGeom prst="ellipse">
            <a:avLst/>
          </a:prstGeom>
          <a:solidFill>
            <a:srgbClr val="FD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d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493008"/>
            <a:ext cx="256032" cy="2560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98448" y="3328416"/>
            <a:ext cx="47365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4292E"/>
                </a:solidFill>
                <a:latin typeface="Calibri"/>
              </a:rPr>
              <a:t>Always leave a resolution note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3630168"/>
            <a:ext cx="473659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E6670"/>
                </a:solidFill>
                <a:latin typeface="Calibri"/>
              </a:rPr>
              <a:t>Future-you and the retrospective will thank you; your org may require it.</a:t>
            </a:r>
          </a:p>
        </p:txBody>
      </p:sp>
      <p:sp>
        <p:nvSpPr>
          <p:cNvPr id="16" name="Oval 15"/>
          <p:cNvSpPr/>
          <p:nvPr/>
        </p:nvSpPr>
        <p:spPr>
          <a:xfrm>
            <a:off x="6355080" y="3383280"/>
            <a:ext cx="475488" cy="475488"/>
          </a:xfrm>
          <a:prstGeom prst="ellipse">
            <a:avLst/>
          </a:prstGeom>
          <a:solidFill>
            <a:srgbClr val="FD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repe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4808" y="3493008"/>
            <a:ext cx="256032" cy="2560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013448" y="3328416"/>
            <a:ext cx="47365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4292E"/>
                </a:solidFill>
                <a:latin typeface="Calibri"/>
              </a:rPr>
              <a:t>Hand off cleanly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3448" y="3630168"/>
            <a:ext cx="473659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E6670"/>
                </a:solidFill>
                <a:latin typeface="Calibri"/>
              </a:rPr>
              <a:t>At end of shift, make sure nothing is left Firing or silenced, and brief the next responder.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F46800"/>
                </a:solidFill>
                <a:latin typeface="Calibri"/>
              </a:rPr>
              <a:t>PUTTING IT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24292E"/>
                </a:solidFill>
                <a:latin typeface="Calibri"/>
              </a:rPr>
              <a:t>When you get paged — the one-pager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440680" cy="4023360"/>
          </a:xfrm>
          <a:prstGeom prst="roundRect">
            <a:avLst>
              <a:gd name="adj" fmla="val 5000"/>
            </a:avLst>
          </a:prstGeom>
          <a:solidFill>
            <a:srgbClr val="F4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09360" y="1783080"/>
            <a:ext cx="5239512" cy="4023360"/>
          </a:xfrm>
          <a:prstGeom prst="roundRect">
            <a:avLst>
              <a:gd name="adj" fmla="val 5000"/>
            </a:avLst>
          </a:prstGeom>
          <a:solidFill>
            <a:srgbClr val="F4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093976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2139696"/>
            <a:ext cx="182880" cy="182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53312" y="2057400"/>
            <a:ext cx="44805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4292E"/>
                </a:solidFill>
                <a:latin typeface="Calibri"/>
              </a:rPr>
              <a:t>Answer the page (push / phone / SMS / Slack)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825496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2871215"/>
            <a:ext cx="182880" cy="182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53312" y="2788920"/>
            <a:ext cx="44805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4292E"/>
                </a:solidFill>
                <a:latin typeface="Calibri"/>
              </a:rPr>
              <a:t>Acknowledge immediately — stops escalation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557016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3602736"/>
            <a:ext cx="182880" cy="182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53312" y="3520440"/>
            <a:ext cx="44805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4292E"/>
                </a:solidFill>
                <a:latin typeface="Calibri"/>
              </a:rPr>
              <a:t>Open the alert group; read alerts, labels, timeline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288536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4334256"/>
            <a:ext cx="182880" cy="1828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53312" y="4251960"/>
            <a:ext cx="44805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4292E"/>
                </a:solidFill>
                <a:latin typeface="Calibri"/>
              </a:rPr>
              <a:t>Noise or known issue? Silence (time-limited)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020056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5065776"/>
            <a:ext cx="182880" cy="1828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53312" y="4983480"/>
            <a:ext cx="44805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4292E"/>
                </a:solidFill>
                <a:latin typeface="Calibri"/>
              </a:rPr>
              <a:t>Need help? Add participants / escalate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2093976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4" y="2139696"/>
            <a:ext cx="182880" cy="1828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022592" y="2057400"/>
            <a:ext cx="427939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4292E"/>
                </a:solidFill>
                <a:latin typeface="Calibri"/>
              </a:rPr>
              <a:t>Decide scope — routine vs incident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2825496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4" y="2871215"/>
            <a:ext cx="182880" cy="1828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022592" y="2788920"/>
            <a:ext cx="427939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4292E"/>
                </a:solidFill>
                <a:latin typeface="Calibri"/>
              </a:rPr>
              <a:t>Routine → fix, Resolve (phone 2), resolution note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0" y="3557016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4" y="3602736"/>
            <a:ext cx="182880" cy="18288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022592" y="3520440"/>
            <a:ext cx="427939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4292E"/>
                </a:solidFill>
                <a:latin typeface="Calibri"/>
              </a:rPr>
              <a:t>Path A → Declare incident, attach group(s), coordinate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0" y="4288536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4" y="4334256"/>
            <a:ext cx="182880" cy="18288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022592" y="4251960"/>
            <a:ext cx="427939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4292E"/>
                </a:solidFill>
                <a:latin typeface="Calibri"/>
              </a:rPr>
              <a:t>Path B → hand off; confirm IRM group is Resolved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0" y="5020056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4" y="5065776"/>
            <a:ext cx="182880" cy="18288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022592" y="4983480"/>
            <a:ext cx="427939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4292E"/>
                </a:solidFill>
                <a:latin typeface="Calibri"/>
              </a:rPr>
              <a:t>Always leave a resolution note; nothing left Firing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E6670"/>
                </a:solidFill>
                <a:latin typeface="Calibri"/>
              </a:rPr>
              <a:t>The responder checklist workbook tracks readiness and these on-call actions.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4480560"/>
            <a:ext cx="3840480" cy="3840480"/>
          </a:xfrm>
          <a:prstGeom prst="ellipse">
            <a:avLst/>
          </a:prstGeom>
          <a:solidFill>
            <a:srgbClr val="3A22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9830"/>
                </a:solidFill>
                <a:latin typeface="Calibri"/>
              </a:rPr>
              <a:t>Respond to alerts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764792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C9CDD2"/>
                </a:solidFill>
                <a:latin typeface="Courier New"/>
              </a:rPr>
              <a:t>grafana.com/docs/grafana-cloud/alerting-and-irm/irm/respond-to-alerts/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04288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9830"/>
                </a:solidFill>
                <a:latin typeface="Calibri"/>
              </a:rPr>
              <a:t>Phone &amp; SMS (keypress menu)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33172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C9CDD2"/>
                </a:solidFill>
                <a:latin typeface="Courier New"/>
              </a:rPr>
              <a:t>grafana.com/docs/grafana-cloud/alerting-and-irm/irm/notify-responders/phone-and-sms/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71215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9830"/>
                </a:solidFill>
                <a:latin typeface="Calibri"/>
              </a:rPr>
              <a:t>Mobile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898647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C9CDD2"/>
                </a:solidFill>
                <a:latin typeface="Courier New"/>
              </a:rPr>
              <a:t>grafana.com/docs/grafana-cloud/alerting-and-irm/irm/mobile-app/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38144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9830"/>
                </a:solidFill>
                <a:latin typeface="Calibri"/>
              </a:rPr>
              <a:t>Declare an incident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3465575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C9CDD2"/>
                </a:solidFill>
                <a:latin typeface="Courier New"/>
              </a:rPr>
              <a:t>grafana.com/docs/grafana-cloud/alerting-and-irm/irm/manage-incidents/declare-incident/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0507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9830"/>
                </a:solidFill>
                <a:latin typeface="Calibri"/>
              </a:rPr>
              <a:t>ServiceNow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4032504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C9CDD2"/>
                </a:solidFill>
                <a:latin typeface="Courier New"/>
              </a:rPr>
              <a:t>grafana.com/docs/grafana-cloud/alerting-and-irm/irm/integrations/alert-sources/servicenow/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72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9830"/>
                </a:solidFill>
                <a:latin typeface="Calibri"/>
              </a:rPr>
              <a:t>Outgoing webhooks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4599432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C9CDD2"/>
                </a:solidFill>
                <a:latin typeface="Courier New"/>
              </a:rPr>
              <a:t>grafana.com/docs/grafana-cloud/alerting-and-irm/irm/integrations/custom-integrations/outgoing-webhooks/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138927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9830"/>
                </a:solidFill>
                <a:latin typeface="Calibri"/>
              </a:rPr>
              <a:t>Responder Notification Setup 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5166359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C9CDD2"/>
                </a:solidFill>
                <a:latin typeface="Courier New"/>
              </a:rPr>
              <a:t>notification-setup/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080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8E959D"/>
                </a:solidFill>
                <a:latin typeface="Calibri"/>
              </a:rPr>
              <a:t>Questions?  Reach out to your Grafana Labs team.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